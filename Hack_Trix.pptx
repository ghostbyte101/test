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97" r:id="rId7"/>
    <p:sldId id="262" r:id="rId8"/>
    <p:sldId id="263" r:id="rId9"/>
    <p:sldId id="299" r:id="rId10"/>
    <p:sldId id="305" r:id="rId11"/>
    <p:sldId id="306" r:id="rId12"/>
    <p:sldId id="307" r:id="rId13"/>
    <p:sldId id="308" r:id="rId14"/>
    <p:sldId id="309" r:id="rId15"/>
    <p:sldId id="301" r:id="rId16"/>
    <p:sldId id="302" r:id="rId17"/>
    <p:sldId id="303" r:id="rId18"/>
    <p:sldId id="304" r:id="rId19"/>
  </p:sldIdLst>
  <p:sldSz cx="9144000" cy="5143500" type="screen16x9"/>
  <p:notesSz cx="6858000" cy="9144000"/>
  <p:embeddedFontLst>
    <p:embeddedFont>
      <p:font typeface="Kanit" panose="020B0604020202020204" charset="-34"/>
      <p:regular r:id="rId21"/>
      <p:bold r:id="rId22"/>
      <p:italic r:id="rId23"/>
      <p:boldItalic r:id="rId24"/>
    </p:embeddedFont>
    <p:embeddedFont>
      <p:font typeface="Kanit Light" panose="020B0604020202020204" charset="-34"/>
      <p:regular r:id="rId25"/>
      <p:bold r:id="rId26"/>
      <p:italic r:id="rId27"/>
      <p:boldItalic r:id="rId28"/>
    </p:embeddedFont>
    <p:embeddedFont>
      <p:font typeface="Open Sans Light" panose="020B0306030504020204" pitchFamily="34" charset="0"/>
      <p:regular r:id="rId29"/>
      <p:italic r:id="rId30"/>
    </p:embeddedFont>
    <p:embeddedFont>
      <p:font typeface="Orbitron" panose="020B0604020202020204" charset="0"/>
      <p:regular r:id="rId31"/>
      <p:bold r:id="rId32"/>
    </p:embeddedFont>
    <p:embeddedFont>
      <p:font typeface="Raleway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61A888-6A81-4CC6-B9DF-8AA349EB404B}">
  <a:tblStyle styleId="{CE61A888-6A81-4CC6-B9DF-8AA349EB40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BAC53E0-C8DA-40D5-8DFA-C05755B622B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heme" Target="theme/theme1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97" name="Google Shape;1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22" name="Google Shape;222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65" name="Google Shape;265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9DC44C12-1477-E3E6-CBB0-626EBCFBE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>
            <a:extLst>
              <a:ext uri="{FF2B5EF4-FFF2-40B4-BE49-F238E27FC236}">
                <a16:creationId xmlns:a16="http://schemas.microsoft.com/office/drawing/2014/main" id="{A516E654-578C-B605-A7A9-2036C5DA0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9" name="Google Shape;239;g13376c31365_0_0:notes">
            <a:extLst>
              <a:ext uri="{FF2B5EF4-FFF2-40B4-BE49-F238E27FC236}">
                <a16:creationId xmlns:a16="http://schemas.microsoft.com/office/drawing/2014/main" id="{E02DC401-B54B-F1A8-2F5A-9915E20309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63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" name="Google Shape;278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9" name="Google Shape;289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4FA14DC2-2362-6FD1-D421-19654894F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0F2249A9-463F-623C-D8EE-C4E1AEF088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50A757D0-0CFC-D155-AEFC-02B3241F5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8304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43E218EF-6544-0687-C1F2-33E127355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09E736D1-B5CA-8D86-4E1D-133E44405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82923EF0-66B3-04F8-AB3F-165ECE155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008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8271764D-875A-3E0E-C9E2-A86CE3EF8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CEDDD0FF-2B5A-0987-85ED-6F79A2CE36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6B03A8C1-9A85-CC83-8BAF-D232FC46C0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6762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C72DAD11-2AE0-5059-E839-B70E1354C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64850E84-C4FA-32F3-07B6-29482ADE3A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9EBBFEC0-A864-6B9E-0C64-00E7697CFC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8823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4BCF3EA7-C9CA-6CE6-EF68-D8A102CDE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699D27A8-116B-8F83-99FD-1E4B8CA588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D6F4A580-28B7-ED4E-FC15-84B3828E33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34535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4439AB1E-19DA-2953-60AC-EC3719C84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569177A0-AEF9-C78A-7387-DBEB03824A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09382707-F590-EFA3-D299-B73ACF056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3439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3AAE81A1-253A-0B3C-A8BE-B9FD69BC0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25d80b419_0_49:notes">
            <a:extLst>
              <a:ext uri="{FF2B5EF4-FFF2-40B4-BE49-F238E27FC236}">
                <a16:creationId xmlns:a16="http://schemas.microsoft.com/office/drawing/2014/main" id="{8A1272ED-4273-2CD0-B28D-3D7132466A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8" name="Google Shape;278;g1125d80b419_0_49:notes">
            <a:extLst>
              <a:ext uri="{FF2B5EF4-FFF2-40B4-BE49-F238E27FC236}">
                <a16:creationId xmlns:a16="http://schemas.microsoft.com/office/drawing/2014/main" id="{0F5C340C-23B4-31CB-704F-4C8BB6494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224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54450" y="1307025"/>
            <a:ext cx="5682300" cy="19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54575" y="3450425"/>
            <a:ext cx="5682300" cy="4095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8657175" y="772575"/>
            <a:ext cx="74100" cy="1788450"/>
            <a:chOff x="8657175" y="772575"/>
            <a:chExt cx="74100" cy="1788450"/>
          </a:xfrm>
        </p:grpSpPr>
        <p:sp>
          <p:nvSpPr>
            <p:cNvPr id="14" name="Google Shape;14;p2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17" name="Google Shape;17;p2"/>
          <p:cNvSpPr/>
          <p:nvPr/>
        </p:nvSpPr>
        <p:spPr>
          <a:xfrm>
            <a:off x="8809575" y="448502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657175" y="4637450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809575" y="478987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20" name="Google Shape;20;p2"/>
          <p:cNvGrpSpPr/>
          <p:nvPr/>
        </p:nvGrpSpPr>
        <p:grpSpPr>
          <a:xfrm>
            <a:off x="205650" y="308475"/>
            <a:ext cx="150300" cy="378950"/>
            <a:chOff x="205650" y="308475"/>
            <a:chExt cx="150300" cy="378950"/>
          </a:xfrm>
        </p:grpSpPr>
        <p:sp>
          <p:nvSpPr>
            <p:cNvPr id="21" name="Google Shape;21;p2"/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1085475" y="4711575"/>
            <a:ext cx="536998" cy="134100"/>
            <a:chOff x="1085475" y="4711575"/>
            <a:chExt cx="536998" cy="134100"/>
          </a:xfrm>
        </p:grpSpPr>
        <p:sp>
          <p:nvSpPr>
            <p:cNvPr id="25" name="Google Shape;25;p2"/>
            <p:cNvSpPr/>
            <p:nvPr/>
          </p:nvSpPr>
          <p:spPr>
            <a:xfrm>
              <a:off x="1085475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2197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3540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488373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3">
            <a:alphaModFix/>
          </a:blip>
          <a:srcRect t="13217"/>
          <a:stretch/>
        </p:blipFill>
        <p:spPr>
          <a:xfrm>
            <a:off x="-330675" y="565023"/>
            <a:ext cx="9557898" cy="466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2391900" y="2409526"/>
            <a:ext cx="43602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2" hasCustomPrompt="1"/>
          </p:nvPr>
        </p:nvSpPr>
        <p:spPr>
          <a:xfrm>
            <a:off x="4027150" y="1352695"/>
            <a:ext cx="1089900" cy="102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34" name="Google Shape;34;p3"/>
          <p:cNvGrpSpPr/>
          <p:nvPr/>
        </p:nvGrpSpPr>
        <p:grpSpPr>
          <a:xfrm>
            <a:off x="1112875" y="367875"/>
            <a:ext cx="1788450" cy="74100"/>
            <a:chOff x="1112875" y="367875"/>
            <a:chExt cx="1788450" cy="74100"/>
          </a:xfrm>
        </p:grpSpPr>
        <p:sp>
          <p:nvSpPr>
            <p:cNvPr id="35" name="Google Shape;35;p3"/>
            <p:cNvSpPr/>
            <p:nvPr/>
          </p:nvSpPr>
          <p:spPr>
            <a:xfrm rot="-5400000">
              <a:off x="1790275" y="-30952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2645950" y="36637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rot="-5400000">
              <a:off x="2825725" y="36637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1085475" y="4711575"/>
            <a:ext cx="536998" cy="134100"/>
            <a:chOff x="1085475" y="4711575"/>
            <a:chExt cx="536998" cy="134100"/>
          </a:xfrm>
        </p:grpSpPr>
        <p:sp>
          <p:nvSpPr>
            <p:cNvPr id="39" name="Google Shape;39;p3"/>
            <p:cNvSpPr/>
            <p:nvPr/>
          </p:nvSpPr>
          <p:spPr>
            <a:xfrm>
              <a:off x="1085475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2197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3540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488373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>
            <a:spLocks noGrp="1"/>
          </p:cNvSpPr>
          <p:nvPr>
            <p:ph type="subTitle" idx="1"/>
          </p:nvPr>
        </p:nvSpPr>
        <p:spPr>
          <a:xfrm>
            <a:off x="1013450" y="1817100"/>
            <a:ext cx="3288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2"/>
          </p:nvPr>
        </p:nvSpPr>
        <p:spPr>
          <a:xfrm>
            <a:off x="4683250" y="1817100"/>
            <a:ext cx="34473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3"/>
          </p:nvPr>
        </p:nvSpPr>
        <p:spPr>
          <a:xfrm>
            <a:off x="1013450" y="2686775"/>
            <a:ext cx="3288000" cy="12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4"/>
          </p:nvPr>
        </p:nvSpPr>
        <p:spPr>
          <a:xfrm>
            <a:off x="4683250" y="2686775"/>
            <a:ext cx="3447300" cy="12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8504775" y="410402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8352375" y="4256450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504775" y="440887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57" name="Google Shape;57;p5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1"/>
          </p:nvPr>
        </p:nvSpPr>
        <p:spPr>
          <a:xfrm>
            <a:off x="720000" y="1547575"/>
            <a:ext cx="45495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>
            <a:spLocks noGrp="1"/>
          </p:cNvSpPr>
          <p:nvPr>
            <p:ph type="pic" idx="2"/>
          </p:nvPr>
        </p:nvSpPr>
        <p:spPr>
          <a:xfrm>
            <a:off x="5831400" y="756200"/>
            <a:ext cx="2526600" cy="36996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Google Shape;6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3">
            <a:alphaModFix amt="60000"/>
          </a:blip>
          <a:srcRect l="38540" t="43939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2" hasCustomPrompt="1"/>
          </p:nvPr>
        </p:nvSpPr>
        <p:spPr>
          <a:xfrm>
            <a:off x="862325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3" hasCustomPrompt="1"/>
          </p:nvPr>
        </p:nvSpPr>
        <p:spPr>
          <a:xfrm>
            <a:off x="862325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4" hasCustomPrompt="1"/>
          </p:nvPr>
        </p:nvSpPr>
        <p:spPr>
          <a:xfrm>
            <a:off x="3554100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5" hasCustomPrompt="1"/>
          </p:nvPr>
        </p:nvSpPr>
        <p:spPr>
          <a:xfrm>
            <a:off x="3554100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6260875" y="14808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7" hasCustomPrompt="1"/>
          </p:nvPr>
        </p:nvSpPr>
        <p:spPr>
          <a:xfrm>
            <a:off x="6260875" y="29142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"/>
          </p:nvPr>
        </p:nvSpPr>
        <p:spPr>
          <a:xfrm>
            <a:off x="862325" y="1984475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8"/>
          </p:nvPr>
        </p:nvSpPr>
        <p:spPr>
          <a:xfrm>
            <a:off x="3554100" y="1984475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9"/>
          </p:nvPr>
        </p:nvSpPr>
        <p:spPr>
          <a:xfrm>
            <a:off x="6260875" y="1984475"/>
            <a:ext cx="2020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3"/>
          </p:nvPr>
        </p:nvSpPr>
        <p:spPr>
          <a:xfrm>
            <a:off x="862325" y="3417950"/>
            <a:ext cx="2035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14"/>
          </p:nvPr>
        </p:nvSpPr>
        <p:spPr>
          <a:xfrm>
            <a:off x="3554100" y="3417950"/>
            <a:ext cx="2017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5"/>
          </p:nvPr>
        </p:nvSpPr>
        <p:spPr>
          <a:xfrm>
            <a:off x="6260875" y="3417950"/>
            <a:ext cx="20208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08" name="Google Shape;10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8504775" y="418022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8352375" y="4332650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8504775" y="4485075"/>
            <a:ext cx="74100" cy="7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subTitle" idx="1"/>
          </p:nvPr>
        </p:nvSpPr>
        <p:spPr>
          <a:xfrm>
            <a:off x="680137" y="1660725"/>
            <a:ext cx="2526900" cy="6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subTitle" idx="2"/>
          </p:nvPr>
        </p:nvSpPr>
        <p:spPr>
          <a:xfrm>
            <a:off x="680137" y="2511900"/>
            <a:ext cx="25269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subTitle" idx="3"/>
          </p:nvPr>
        </p:nvSpPr>
        <p:spPr>
          <a:xfrm>
            <a:off x="3306163" y="2511900"/>
            <a:ext cx="25269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subTitle" idx="4"/>
          </p:nvPr>
        </p:nvSpPr>
        <p:spPr>
          <a:xfrm>
            <a:off x="5936963" y="2511900"/>
            <a:ext cx="2526900" cy="16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5"/>
          </p:nvPr>
        </p:nvSpPr>
        <p:spPr>
          <a:xfrm>
            <a:off x="3306162" y="1660725"/>
            <a:ext cx="2526900" cy="6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subTitle" idx="6"/>
          </p:nvPr>
        </p:nvSpPr>
        <p:spPr>
          <a:xfrm>
            <a:off x="5936963" y="1660725"/>
            <a:ext cx="2526900" cy="6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/>
          <p:cNvPicPr preferRelativeResize="0"/>
          <p:nvPr/>
        </p:nvPicPr>
        <p:blipFill rotWithShape="1">
          <a:blip r:embed="rId3">
            <a:alphaModFix amt="60000"/>
          </a:blip>
          <a:srcRect l="38540" t="43939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8058350" y="46085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8192649" y="46085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8326949" y="46085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8461248" y="46085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subTitle" idx="1"/>
          </p:nvPr>
        </p:nvSpPr>
        <p:spPr>
          <a:xfrm>
            <a:off x="1055850" y="1306475"/>
            <a:ext cx="30483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subTitle" idx="2"/>
          </p:nvPr>
        </p:nvSpPr>
        <p:spPr>
          <a:xfrm>
            <a:off x="1055850" y="1832375"/>
            <a:ext cx="30483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subTitle" idx="3"/>
          </p:nvPr>
        </p:nvSpPr>
        <p:spPr>
          <a:xfrm>
            <a:off x="5039850" y="1832375"/>
            <a:ext cx="30483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8"/>
          <p:cNvSpPr txBox="1">
            <a:spLocks noGrp="1"/>
          </p:cNvSpPr>
          <p:nvPr>
            <p:ph type="subTitle" idx="4"/>
          </p:nvPr>
        </p:nvSpPr>
        <p:spPr>
          <a:xfrm>
            <a:off x="1055850" y="3580700"/>
            <a:ext cx="30483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8"/>
          <p:cNvSpPr txBox="1">
            <a:spLocks noGrp="1"/>
          </p:cNvSpPr>
          <p:nvPr>
            <p:ph type="subTitle" idx="5"/>
          </p:nvPr>
        </p:nvSpPr>
        <p:spPr>
          <a:xfrm>
            <a:off x="5039850" y="3580700"/>
            <a:ext cx="30483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8"/>
          <p:cNvSpPr txBox="1">
            <a:spLocks noGrp="1"/>
          </p:cNvSpPr>
          <p:nvPr>
            <p:ph type="subTitle" idx="6"/>
          </p:nvPr>
        </p:nvSpPr>
        <p:spPr>
          <a:xfrm>
            <a:off x="1055850" y="3054800"/>
            <a:ext cx="30483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6" name="Google Shape;156;p18"/>
          <p:cNvSpPr txBox="1">
            <a:spLocks noGrp="1"/>
          </p:cNvSpPr>
          <p:nvPr>
            <p:ph type="subTitle" idx="7"/>
          </p:nvPr>
        </p:nvSpPr>
        <p:spPr>
          <a:xfrm>
            <a:off x="5039850" y="1306475"/>
            <a:ext cx="30483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subTitle" idx="8"/>
          </p:nvPr>
        </p:nvSpPr>
        <p:spPr>
          <a:xfrm>
            <a:off x="5039850" y="3054800"/>
            <a:ext cx="30483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58" name="Google Shape;158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62" r:id="rId9"/>
    <p:sldLayoutId id="2147483664" r:id="rId10"/>
    <p:sldLayoutId id="2147483667" r:id="rId11"/>
    <p:sldLayoutId id="2147483668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ctrTitle"/>
          </p:nvPr>
        </p:nvSpPr>
        <p:spPr>
          <a:xfrm>
            <a:off x="1295575" y="1661064"/>
            <a:ext cx="6552848" cy="887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 dirty="0"/>
              <a:t>HACK TRIX</a:t>
            </a:r>
            <a:endParaRPr sz="7200" dirty="0"/>
          </a:p>
        </p:txBody>
      </p:sp>
      <p:sp>
        <p:nvSpPr>
          <p:cNvPr id="200" name="Google Shape;200;p26"/>
          <p:cNvSpPr txBox="1">
            <a:spLocks noGrp="1"/>
          </p:cNvSpPr>
          <p:nvPr>
            <p:ph type="subTitle" idx="1"/>
          </p:nvPr>
        </p:nvSpPr>
        <p:spPr>
          <a:xfrm>
            <a:off x="1654575" y="3450425"/>
            <a:ext cx="56823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Network Vulnerability and Attack Queue System</a:t>
            </a:r>
          </a:p>
        </p:txBody>
      </p:sp>
      <p:grpSp>
        <p:nvGrpSpPr>
          <p:cNvPr id="201" name="Google Shape;201;p26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02" name="Google Shape;202;p26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2" name="Google Shape;199;p26">
            <a:extLst>
              <a:ext uri="{FF2B5EF4-FFF2-40B4-BE49-F238E27FC236}">
                <a16:creationId xmlns:a16="http://schemas.microsoft.com/office/drawing/2014/main" id="{65593705-600E-27D1-FED3-6CB691294B39}"/>
              </a:ext>
            </a:extLst>
          </p:cNvPr>
          <p:cNvSpPr txBox="1">
            <a:spLocks/>
          </p:cNvSpPr>
          <p:nvPr/>
        </p:nvSpPr>
        <p:spPr>
          <a:xfrm>
            <a:off x="3590692" y="2595240"/>
            <a:ext cx="1962615" cy="40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Orbitron"/>
              <a:buNone/>
              <a:defRPr sz="80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aleway"/>
              <a:buNone/>
              <a:defRPr sz="5200" b="1" i="0" u="none" strike="noStrike" cap="non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aleway"/>
              <a:buNone/>
              <a:defRPr sz="5200" b="1" i="0" u="none" strike="noStrike" cap="non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aleway"/>
              <a:buNone/>
              <a:defRPr sz="5200" b="1" i="0" u="none" strike="noStrike" cap="non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aleway"/>
              <a:buNone/>
              <a:defRPr sz="5200" b="1" i="0" u="none" strike="noStrike" cap="non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aleway"/>
              <a:buNone/>
              <a:defRPr sz="5200" b="1" i="0" u="none" strike="noStrike" cap="non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aleway"/>
              <a:buNone/>
              <a:defRPr sz="5200" b="1" i="0" u="none" strike="noStrike" cap="non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aleway"/>
              <a:buNone/>
              <a:defRPr sz="5200" b="1" i="0" u="none" strike="noStrike" cap="non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Raleway"/>
              <a:buNone/>
              <a:defRPr sz="5200" b="1" i="0" u="none" strike="noStrike" cap="none">
                <a:solidFill>
                  <a:srgbClr val="191919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600" dirty="0"/>
              <a:t>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>
            <a:spLocks noGrp="1"/>
          </p:cNvSpPr>
          <p:nvPr>
            <p:ph type="title" idx="4"/>
          </p:nvPr>
        </p:nvSpPr>
        <p:spPr>
          <a:xfrm>
            <a:off x="3059213" y="1957948"/>
            <a:ext cx="5392956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DATA STRUCTURES AND ALGORITHMS</a:t>
            </a:r>
            <a:endParaRPr sz="1800" dirty="0"/>
          </a:p>
        </p:txBody>
      </p:sp>
      <p:sp>
        <p:nvSpPr>
          <p:cNvPr id="231" name="Google Shape;231;p28"/>
          <p:cNvSpPr txBox="1">
            <a:spLocks noGrp="1"/>
          </p:cNvSpPr>
          <p:nvPr>
            <p:ph type="subTitle" idx="1"/>
          </p:nvPr>
        </p:nvSpPr>
        <p:spPr>
          <a:xfrm>
            <a:off x="862324" y="1984475"/>
            <a:ext cx="1241539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COURSE:  </a:t>
            </a:r>
            <a:endParaRPr dirty="0"/>
          </a:p>
        </p:txBody>
      </p:sp>
      <p:sp>
        <p:nvSpPr>
          <p:cNvPr id="234" name="Google Shape;234;p28"/>
          <p:cNvSpPr txBox="1">
            <a:spLocks noGrp="1"/>
          </p:cNvSpPr>
          <p:nvPr>
            <p:ph type="subTitle" idx="13"/>
          </p:nvPr>
        </p:nvSpPr>
        <p:spPr>
          <a:xfrm>
            <a:off x="862324" y="2464149"/>
            <a:ext cx="20358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INSTRUCTOR:</a:t>
            </a:r>
            <a:endParaRPr dirty="0"/>
          </a:p>
        </p:txBody>
      </p:sp>
      <p:sp>
        <p:nvSpPr>
          <p:cNvPr id="235" name="Google Shape;235;p28"/>
          <p:cNvSpPr txBox="1">
            <a:spLocks noGrp="1"/>
          </p:cNvSpPr>
          <p:nvPr>
            <p:ph type="subTitle" idx="14"/>
          </p:nvPr>
        </p:nvSpPr>
        <p:spPr>
          <a:xfrm>
            <a:off x="862324" y="2970350"/>
            <a:ext cx="2196889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 MEMBERS:</a:t>
            </a:r>
            <a:endParaRPr dirty="0"/>
          </a:p>
        </p:txBody>
      </p:sp>
      <p:sp>
        <p:nvSpPr>
          <p:cNvPr id="18" name="Google Shape;227;p28">
            <a:extLst>
              <a:ext uri="{FF2B5EF4-FFF2-40B4-BE49-F238E27FC236}">
                <a16:creationId xmlns:a16="http://schemas.microsoft.com/office/drawing/2014/main" id="{E2DCC748-040E-2648-9A24-83A42F280113}"/>
              </a:ext>
            </a:extLst>
          </p:cNvPr>
          <p:cNvSpPr txBox="1">
            <a:spLocks/>
          </p:cNvSpPr>
          <p:nvPr/>
        </p:nvSpPr>
        <p:spPr>
          <a:xfrm>
            <a:off x="3031044" y="2464149"/>
            <a:ext cx="5392956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600" b="0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800" dirty="0"/>
              <a:t>Dr Zubair Ahmed</a:t>
            </a:r>
          </a:p>
        </p:txBody>
      </p:sp>
      <p:sp>
        <p:nvSpPr>
          <p:cNvPr id="19" name="Google Shape;227;p28">
            <a:extLst>
              <a:ext uri="{FF2B5EF4-FFF2-40B4-BE49-F238E27FC236}">
                <a16:creationId xmlns:a16="http://schemas.microsoft.com/office/drawing/2014/main" id="{B7336479-FF87-C09E-A57A-DB140C772C44}"/>
              </a:ext>
            </a:extLst>
          </p:cNvPr>
          <p:cNvSpPr txBox="1">
            <a:spLocks/>
          </p:cNvSpPr>
          <p:nvPr/>
        </p:nvSpPr>
        <p:spPr>
          <a:xfrm>
            <a:off x="3031044" y="2970350"/>
            <a:ext cx="5392956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600" b="0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800" dirty="0"/>
              <a:t>Abdullah, Warda and Asjid</a:t>
            </a:r>
          </a:p>
        </p:txBody>
      </p:sp>
      <p:sp>
        <p:nvSpPr>
          <p:cNvPr id="20" name="Google Shape;227;p28">
            <a:extLst>
              <a:ext uri="{FF2B5EF4-FFF2-40B4-BE49-F238E27FC236}">
                <a16:creationId xmlns:a16="http://schemas.microsoft.com/office/drawing/2014/main" id="{1B549F8D-9FF8-135E-2C10-6ACDC4F1844B}"/>
              </a:ext>
            </a:extLst>
          </p:cNvPr>
          <p:cNvSpPr txBox="1">
            <a:spLocks/>
          </p:cNvSpPr>
          <p:nvPr/>
        </p:nvSpPr>
        <p:spPr>
          <a:xfrm>
            <a:off x="3228009" y="3254760"/>
            <a:ext cx="984327" cy="32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600" b="0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100" dirty="0"/>
              <a:t>2024321</a:t>
            </a:r>
          </a:p>
        </p:txBody>
      </p:sp>
      <p:sp>
        <p:nvSpPr>
          <p:cNvPr id="21" name="Google Shape;227;p28">
            <a:extLst>
              <a:ext uri="{FF2B5EF4-FFF2-40B4-BE49-F238E27FC236}">
                <a16:creationId xmlns:a16="http://schemas.microsoft.com/office/drawing/2014/main" id="{ABCFDE22-1B6E-3CC8-A91F-7F9E4D3B6634}"/>
              </a:ext>
            </a:extLst>
          </p:cNvPr>
          <p:cNvSpPr txBox="1">
            <a:spLocks/>
          </p:cNvSpPr>
          <p:nvPr/>
        </p:nvSpPr>
        <p:spPr>
          <a:xfrm>
            <a:off x="5665762" y="3254760"/>
            <a:ext cx="984327" cy="32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600" b="0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100" dirty="0"/>
              <a:t>2024119</a:t>
            </a:r>
          </a:p>
        </p:txBody>
      </p:sp>
      <p:sp>
        <p:nvSpPr>
          <p:cNvPr id="22" name="Google Shape;227;p28">
            <a:extLst>
              <a:ext uri="{FF2B5EF4-FFF2-40B4-BE49-F238E27FC236}">
                <a16:creationId xmlns:a16="http://schemas.microsoft.com/office/drawing/2014/main" id="{534DDE92-4390-CCCD-A9A5-8E2EC0978C2D}"/>
              </a:ext>
            </a:extLst>
          </p:cNvPr>
          <p:cNvSpPr txBox="1">
            <a:spLocks/>
          </p:cNvSpPr>
          <p:nvPr/>
        </p:nvSpPr>
        <p:spPr>
          <a:xfrm>
            <a:off x="4319980" y="3254760"/>
            <a:ext cx="984327" cy="32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2600" b="0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100" dirty="0"/>
              <a:t>2024663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630000" y="2020200"/>
            <a:ext cx="5883999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720000" y="1160998"/>
            <a:ext cx="7420390" cy="34110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Simulates a </a:t>
            </a:r>
            <a:r>
              <a:rPr lang="en-US" sz="1400" b="1" dirty="0"/>
              <a:t>basic network attack/defense environment</a:t>
            </a:r>
            <a:r>
              <a:rPr lang="en-US" sz="1400" dirty="0"/>
              <a:t>.</a:t>
            </a:r>
          </a:p>
          <a:p>
            <a:pPr marL="152400" indent="0">
              <a:buNone/>
            </a:pPr>
            <a:endParaRPr lang="en-US" sz="1400" dirty="0"/>
          </a:p>
          <a:p>
            <a:r>
              <a:rPr lang="en-US" sz="1400" dirty="0"/>
              <a:t>Systems are represented as </a:t>
            </a:r>
            <a:r>
              <a:rPr lang="en-US" sz="1400" b="1" dirty="0"/>
              <a:t>nodes</a:t>
            </a:r>
            <a:r>
              <a:rPr lang="en-US" sz="1400" dirty="0"/>
              <a:t> with varying </a:t>
            </a:r>
            <a:r>
              <a:rPr lang="en-US" sz="1400" b="1" dirty="0"/>
              <a:t>vulnerability levels</a:t>
            </a:r>
            <a:r>
              <a:rPr lang="en-US" sz="1400" dirty="0"/>
              <a:t>.</a:t>
            </a:r>
          </a:p>
          <a:p>
            <a:pPr marL="152400" indent="0">
              <a:buNone/>
            </a:pPr>
            <a:endParaRPr lang="en-US" sz="1400" dirty="0"/>
          </a:p>
          <a:p>
            <a:r>
              <a:rPr lang="en-US" sz="1400" dirty="0"/>
              <a:t>Users can </a:t>
            </a:r>
            <a:r>
              <a:rPr lang="en-US" sz="1400" b="1" dirty="0"/>
              <a:t>queue attacks</a:t>
            </a:r>
            <a:r>
              <a:rPr lang="en-US" sz="1400" dirty="0"/>
              <a:t> on specific IP addresses.</a:t>
            </a:r>
          </a:p>
          <a:p>
            <a:pPr marL="152400" indent="0">
              <a:buNone/>
            </a:pPr>
            <a:endParaRPr lang="en-US" sz="1400" dirty="0"/>
          </a:p>
          <a:p>
            <a:r>
              <a:rPr lang="en-US" sz="1400" dirty="0"/>
              <a:t>Simulation determines </a:t>
            </a:r>
            <a:r>
              <a:rPr lang="en-US" sz="1400" b="1" dirty="0"/>
              <a:t>attack success/failure</a:t>
            </a:r>
            <a:r>
              <a:rPr lang="en-US" sz="1400" dirty="0"/>
              <a:t> using </a:t>
            </a:r>
            <a:r>
              <a:rPr lang="en-US" sz="1400" b="1" dirty="0"/>
              <a:t>vulnerability and patching factors</a:t>
            </a:r>
            <a:r>
              <a:rPr lang="en-US" sz="1400" dirty="0"/>
              <a:t>.</a:t>
            </a:r>
          </a:p>
          <a:p>
            <a:pPr marL="152400" indent="0">
              <a:buNone/>
            </a:pPr>
            <a:endParaRPr lang="en-US" sz="1400" dirty="0"/>
          </a:p>
          <a:p>
            <a:r>
              <a:rPr lang="en-US" sz="1400" dirty="0"/>
              <a:t>Demonstrates </a:t>
            </a:r>
            <a:r>
              <a:rPr lang="en-US" sz="1400" b="1" dirty="0"/>
              <a:t>data structure concepts</a:t>
            </a:r>
            <a:r>
              <a:rPr lang="en-US" sz="1400" dirty="0"/>
              <a:t>: Array, Lists, Stack, Queues, Graphs</a:t>
            </a:r>
          </a:p>
          <a:p>
            <a:pPr marL="152400" indent="0">
              <a:buNone/>
            </a:pPr>
            <a:endParaRPr lang="en-US" sz="1400" dirty="0"/>
          </a:p>
          <a:p>
            <a:r>
              <a:rPr lang="en-US" sz="1400" dirty="0"/>
              <a:t>Introduces </a:t>
            </a:r>
            <a:r>
              <a:rPr lang="en-US" sz="1400" b="1" dirty="0"/>
              <a:t>basic cybersecurity logic</a:t>
            </a:r>
            <a:r>
              <a:rPr lang="en-US" sz="1400" dirty="0"/>
              <a:t> such as vulnerability scoring and patch impact.</a:t>
            </a: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Problem Statement</a:t>
            </a:r>
            <a:endParaRPr dirty="0"/>
          </a:p>
        </p:txBody>
      </p:sp>
      <p:grpSp>
        <p:nvGrpSpPr>
          <p:cNvPr id="272" name="Google Shape;272;p31"/>
          <p:cNvGrpSpPr/>
          <p:nvPr/>
        </p:nvGrpSpPr>
        <p:grpSpPr>
          <a:xfrm rot="5400000">
            <a:off x="1577175" y="743024"/>
            <a:ext cx="74100" cy="1788450"/>
            <a:chOff x="8657175" y="772575"/>
            <a:chExt cx="74100" cy="1788450"/>
          </a:xfrm>
        </p:grpSpPr>
        <p:sp>
          <p:nvSpPr>
            <p:cNvPr id="273" name="Google Shape;273;p31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2" name="Google Shape;267;p31">
            <a:extLst>
              <a:ext uri="{FF2B5EF4-FFF2-40B4-BE49-F238E27FC236}">
                <a16:creationId xmlns:a16="http://schemas.microsoft.com/office/drawing/2014/main" id="{E10AC8B7-B959-BC52-872C-02BF936C0863}"/>
              </a:ext>
            </a:extLst>
          </p:cNvPr>
          <p:cNvSpPr txBox="1">
            <a:spLocks/>
          </p:cNvSpPr>
          <p:nvPr/>
        </p:nvSpPr>
        <p:spPr>
          <a:xfrm>
            <a:off x="720000" y="940204"/>
            <a:ext cx="759881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b="1" dirty="0"/>
              <a:t>Goal:</a:t>
            </a:r>
            <a:br>
              <a:rPr lang="en-US" sz="1400" dirty="0"/>
            </a:br>
            <a:r>
              <a:rPr lang="en-US" sz="1400" dirty="0"/>
              <a:t>Make a simple cyber-security simulation game using </a:t>
            </a:r>
            <a:r>
              <a:rPr lang="en-US" sz="1400" b="1" dirty="0"/>
              <a:t>DSA</a:t>
            </a:r>
            <a:endParaRPr lang="en-US" sz="1400" dirty="0"/>
          </a:p>
        </p:txBody>
      </p:sp>
      <p:sp>
        <p:nvSpPr>
          <p:cNvPr id="4" name="Google Shape;267;p31">
            <a:extLst>
              <a:ext uri="{FF2B5EF4-FFF2-40B4-BE49-F238E27FC236}">
                <a16:creationId xmlns:a16="http://schemas.microsoft.com/office/drawing/2014/main" id="{AE2454A3-D68C-D2F5-1545-F64D42C99367}"/>
              </a:ext>
            </a:extLst>
          </p:cNvPr>
          <p:cNvSpPr txBox="1">
            <a:spLocks/>
          </p:cNvSpPr>
          <p:nvPr/>
        </p:nvSpPr>
        <p:spPr>
          <a:xfrm>
            <a:off x="2611125" y="1435383"/>
            <a:ext cx="207982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1400" dirty="0"/>
              <a:t>What should it do?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F5F46E7-6D95-6909-C192-8D8D6698EC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1732691"/>
            <a:ext cx="585650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Manage multiple systems</a:t>
            </a: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their security status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Process attack requests from the player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Log every important action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Allow undoing changes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Show connections between systems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Spread infections across the network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Demonstrate real use of DSA techniques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722D2445-0067-6AB6-6F19-8BA1BC53A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>
            <a:extLst>
              <a:ext uri="{FF2B5EF4-FFF2-40B4-BE49-F238E27FC236}">
                <a16:creationId xmlns:a16="http://schemas.microsoft.com/office/drawing/2014/main" id="{19AF82EF-DC01-599B-C055-60E8C3EB79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5224" y="1700725"/>
            <a:ext cx="4373552" cy="1742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Project Overview</a:t>
            </a:r>
            <a:endParaRPr dirty="0"/>
          </a:p>
        </p:txBody>
      </p:sp>
      <p:grpSp>
        <p:nvGrpSpPr>
          <p:cNvPr id="243" name="Google Shape;243;p29">
            <a:extLst>
              <a:ext uri="{FF2B5EF4-FFF2-40B4-BE49-F238E27FC236}">
                <a16:creationId xmlns:a16="http://schemas.microsoft.com/office/drawing/2014/main" id="{99155CA9-54CF-473B-6004-37AA021FFDB3}"/>
              </a:ext>
            </a:extLst>
          </p:cNvPr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>
              <a:extLst>
                <a:ext uri="{FF2B5EF4-FFF2-40B4-BE49-F238E27FC236}">
                  <a16:creationId xmlns:a16="http://schemas.microsoft.com/office/drawing/2014/main" id="{D6E26D2B-70C9-7C5A-E025-C301807DDD96}"/>
                </a:ext>
              </a:extLst>
            </p:cNvPr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>
              <a:extLst>
                <a:ext uri="{FF2B5EF4-FFF2-40B4-BE49-F238E27FC236}">
                  <a16:creationId xmlns:a16="http://schemas.microsoft.com/office/drawing/2014/main" id="{72BFA74D-452C-9818-2895-65356442B5A3}"/>
                </a:ext>
              </a:extLst>
            </p:cNvPr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>
              <a:extLst>
                <a:ext uri="{FF2B5EF4-FFF2-40B4-BE49-F238E27FC236}">
                  <a16:creationId xmlns:a16="http://schemas.microsoft.com/office/drawing/2014/main" id="{7778C44C-A78A-5F76-24CB-A58F3A0EAC33}"/>
                </a:ext>
              </a:extLst>
            </p:cNvPr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>
            <a:extLst>
              <a:ext uri="{FF2B5EF4-FFF2-40B4-BE49-F238E27FC236}">
                <a16:creationId xmlns:a16="http://schemas.microsoft.com/office/drawing/2014/main" id="{61384361-9505-88AD-FE38-A72108447D79}"/>
              </a:ext>
            </a:extLst>
          </p:cNvPr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>
              <a:extLst>
                <a:ext uri="{FF2B5EF4-FFF2-40B4-BE49-F238E27FC236}">
                  <a16:creationId xmlns:a16="http://schemas.microsoft.com/office/drawing/2014/main" id="{1AEDD321-6E50-3828-E401-40F03ABD5F44}"/>
                </a:ext>
              </a:extLst>
            </p:cNvPr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>
              <a:extLst>
                <a:ext uri="{FF2B5EF4-FFF2-40B4-BE49-F238E27FC236}">
                  <a16:creationId xmlns:a16="http://schemas.microsoft.com/office/drawing/2014/main" id="{401FC81C-A2E3-D660-6DC1-707E690ADA54}"/>
                </a:ext>
              </a:extLst>
            </p:cNvPr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>
              <a:extLst>
                <a:ext uri="{FF2B5EF4-FFF2-40B4-BE49-F238E27FC236}">
                  <a16:creationId xmlns:a16="http://schemas.microsoft.com/office/drawing/2014/main" id="{FC34BDD7-59B4-CF77-948C-14C307032F99}"/>
                </a:ext>
              </a:extLst>
            </p:cNvPr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>
              <a:extLst>
                <a:ext uri="{FF2B5EF4-FFF2-40B4-BE49-F238E27FC236}">
                  <a16:creationId xmlns:a16="http://schemas.microsoft.com/office/drawing/2014/main" id="{A60DCC4B-3D24-B28A-9456-9D62C5009CC8}"/>
                </a:ext>
              </a:extLst>
            </p:cNvPr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950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Project Overview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B43694C-D840-5D30-CCBE-46F5B3A01B4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1309233"/>
            <a:ext cx="5497018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Add attack requests to a queue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Process attacks and compromise systems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System states can be patched, restored, or infected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Logs maintain a complete history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Scanner cycles through systems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BFS finds shortest paths in the network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Graph shows all connections visually (as matrix)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DATA STRUCTURES USED</a:t>
            </a:r>
            <a:endParaRPr b="1" dirty="0">
              <a:highlight>
                <a:srgbClr val="008080"/>
              </a:highlight>
            </a:endParaRPr>
          </a:p>
        </p:txBody>
      </p:sp>
      <p:grpSp>
        <p:nvGrpSpPr>
          <p:cNvPr id="300" name="Google Shape;300;p33"/>
          <p:cNvGrpSpPr/>
          <p:nvPr/>
        </p:nvGrpSpPr>
        <p:grpSpPr>
          <a:xfrm>
            <a:off x="8275100" y="1095250"/>
            <a:ext cx="226500" cy="378950"/>
            <a:chOff x="7894100" y="3762250"/>
            <a:chExt cx="226500" cy="378950"/>
          </a:xfrm>
        </p:grpSpPr>
        <p:sp>
          <p:nvSpPr>
            <p:cNvPr id="301" name="Google Shape;301;p33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02" name="Google Shape;302;p33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03" name="Google Shape;303;p33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19" name="Google Shape;296;p33">
            <a:extLst>
              <a:ext uri="{FF2B5EF4-FFF2-40B4-BE49-F238E27FC236}">
                <a16:creationId xmlns:a16="http://schemas.microsoft.com/office/drawing/2014/main" id="{9BADA406-7BFE-6E7B-FE69-4A1BAE982239}"/>
              </a:ext>
            </a:extLst>
          </p:cNvPr>
          <p:cNvSpPr txBox="1">
            <a:spLocks/>
          </p:cNvSpPr>
          <p:nvPr/>
        </p:nvSpPr>
        <p:spPr>
          <a:xfrm>
            <a:off x="1899778" y="3773474"/>
            <a:ext cx="5687364" cy="38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100" dirty="0"/>
              <a:t>Each structure was carefully chosen based on how cyber systems behave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408CF-6FAC-6EA5-EEB3-F603622056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76" y="724934"/>
            <a:ext cx="8980248" cy="525900"/>
          </a:xfrm>
        </p:spPr>
        <p:txBody>
          <a:bodyPr/>
          <a:lstStyle/>
          <a:p>
            <a:r>
              <a:rPr lang="en-US" sz="1100" dirty="0"/>
              <a:t>To make the simulation realistic, the project combines multiple DSA concepts: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C6BE982-D2B0-E4C0-880D-E955DBF68620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1759764" y="1284725"/>
            <a:ext cx="5144357" cy="235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Doubly Linked List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→ stores all systems in the network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Singly Linked List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→ maintains logs of every action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Linked List Stack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→ undo system for restoring previous states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Circular Array Queue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→ queue of pending attack requests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Circular Linked List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→ continuous rotation of scanner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Adjacency Matrix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→ network graph for connections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Queue-Based BFS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8080"/>
                </a:highlight>
                <a:latin typeface="Kanit Light" panose="020B0604020202020204" charset="-34"/>
                <a:cs typeface="Kanit Light" panose="020B0604020202020204" charset="-34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→ pathfinding &amp; infection spreading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EF99D98A-E99B-2D10-BC7F-94615E38C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0F0C3ED0-87A0-4218-012E-B2C382AE73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System Storage: </a:t>
            </a:r>
            <a:r>
              <a:rPr lang="en-US" dirty="0">
                <a:highlight>
                  <a:srgbClr val="008080"/>
                </a:highlight>
              </a:rPr>
              <a:t>Doubly Linked List</a:t>
            </a:r>
            <a:endParaRPr sz="1800" dirty="0">
              <a:highlight>
                <a:srgbClr val="00808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41A22-960F-8D2B-F834-E69A66EE22E1}"/>
              </a:ext>
            </a:extLst>
          </p:cNvPr>
          <p:cNvSpPr txBox="1"/>
          <p:nvPr/>
        </p:nvSpPr>
        <p:spPr>
          <a:xfrm>
            <a:off x="720000" y="1127336"/>
            <a:ext cx="80922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The complete list of systems is stored in a </a:t>
            </a:r>
            <a:r>
              <a:rPr lang="en-US" b="1" dirty="0">
                <a:solidFill>
                  <a:schemeClr val="tx1"/>
                </a:solidFill>
                <a:latin typeface="Orbitron" panose="020B0604020202020204" charset="0"/>
              </a:rPr>
              <a:t>Doubly Linked List</a:t>
            </a: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.</a:t>
            </a:r>
            <a:br>
              <a:rPr lang="en-US" dirty="0">
                <a:solidFill>
                  <a:schemeClr val="tx1"/>
                </a:solidFill>
                <a:latin typeface="Orbitron" panose="020B0604020202020204" charset="0"/>
              </a:rPr>
            </a:b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This structure allows smooth movement in both directions and flexible insertion.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85F70E-A340-505B-C91A-4773ABD859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2093066"/>
            <a:ext cx="705193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Easy traversal for scanning and displaying all systems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Forward/backward movement for debugging and testing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Good structure when systems can be added or tested frequently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Stores rich details like name, IP, vulnerability, hacked/patch status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F1274-962C-F1AA-D98E-3E87EA1DA2C7}"/>
              </a:ext>
            </a:extLst>
          </p:cNvPr>
          <p:cNvSpPr txBox="1"/>
          <p:nvPr/>
        </p:nvSpPr>
        <p:spPr>
          <a:xfrm>
            <a:off x="801775" y="1865495"/>
            <a:ext cx="1904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Why DLL is used:</a:t>
            </a:r>
          </a:p>
        </p:txBody>
      </p:sp>
    </p:spTree>
    <p:extLst>
      <p:ext uri="{BB962C8B-B14F-4D97-AF65-F5344CB8AC3E}">
        <p14:creationId xmlns:p14="http://schemas.microsoft.com/office/powerpoint/2010/main" val="815098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31EA19A0-A323-F5C2-EB6D-6836D4DD4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F06382B6-1248-ABEB-675D-2E8DFEFF31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Attack Queue: </a:t>
            </a:r>
            <a:r>
              <a:rPr lang="en-US" dirty="0">
                <a:highlight>
                  <a:srgbClr val="008080"/>
                </a:highlight>
              </a:rPr>
              <a:t>Circular Array</a:t>
            </a:r>
            <a:endParaRPr sz="1800" dirty="0">
              <a:highlight>
                <a:srgbClr val="00808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C25CF-ADF6-DE63-1254-E1E7010D0B12}"/>
              </a:ext>
            </a:extLst>
          </p:cNvPr>
          <p:cNvSpPr txBox="1"/>
          <p:nvPr/>
        </p:nvSpPr>
        <p:spPr>
          <a:xfrm>
            <a:off x="720000" y="1127336"/>
            <a:ext cx="7008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Attack requests from the player are stored in a </a:t>
            </a:r>
            <a:r>
              <a:rPr lang="en-US" b="1" dirty="0">
                <a:solidFill>
                  <a:schemeClr val="tx1"/>
                </a:solidFill>
                <a:latin typeface="Orbitron" panose="020B0604020202020204" charset="0"/>
              </a:rPr>
              <a:t>circular array queue</a:t>
            </a: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.</a:t>
            </a:r>
            <a:br>
              <a:rPr lang="en-US" dirty="0">
                <a:solidFill>
                  <a:schemeClr val="tx1"/>
                </a:solidFill>
                <a:latin typeface="Orbitron" panose="020B0604020202020204" charset="0"/>
              </a:rPr>
            </a:b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This represents attacks being processed in fixed order.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6EC09-9DA5-0A39-BEB4-9928EF5DF0B7}"/>
              </a:ext>
            </a:extLst>
          </p:cNvPr>
          <p:cNvSpPr txBox="1"/>
          <p:nvPr/>
        </p:nvSpPr>
        <p:spPr>
          <a:xfrm>
            <a:off x="801775" y="1865495"/>
            <a:ext cx="28440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Why queue is perfect here: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7C972C6-E5BE-223F-9DFD-806DCEE36F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725" y="2093051"/>
            <a:ext cx="527099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Attacks must be handled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First-In First-Out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anit Light" panose="020B0604020202020204" charset="-34"/>
              <a:cs typeface="Kanit Light" panose="020B060402020202020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Circular array avoids shifting elements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Constant-time enqueue and dequeue operations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Easy to show the list of pending attacks</a:t>
            </a:r>
          </a:p>
        </p:txBody>
      </p:sp>
    </p:spTree>
    <p:extLst>
      <p:ext uri="{BB962C8B-B14F-4D97-AF65-F5344CB8AC3E}">
        <p14:creationId xmlns:p14="http://schemas.microsoft.com/office/powerpoint/2010/main" val="481822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78C5D8E6-AFC4-766A-97DE-DFB29A4DD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E0F7EEC4-2431-E6A8-48B1-B8FB81DA59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Logs </a:t>
            </a:r>
            <a:r>
              <a:rPr lang="en-US" dirty="0">
                <a:highlight>
                  <a:srgbClr val="008080"/>
                </a:highlight>
              </a:rPr>
              <a:t>Singly Linked List</a:t>
            </a:r>
            <a:endParaRPr sz="1800" dirty="0">
              <a:highlight>
                <a:srgbClr val="00808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63A702-3119-B64E-4648-66D09E5AA6B5}"/>
              </a:ext>
            </a:extLst>
          </p:cNvPr>
          <p:cNvSpPr txBox="1"/>
          <p:nvPr/>
        </p:nvSpPr>
        <p:spPr>
          <a:xfrm>
            <a:off x="720000" y="1127336"/>
            <a:ext cx="8079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All actions taken by the player and the system are saved in a </a:t>
            </a:r>
            <a:r>
              <a:rPr lang="en-US" b="1" dirty="0">
                <a:solidFill>
                  <a:schemeClr val="tx1"/>
                </a:solidFill>
                <a:latin typeface="Orbitron" panose="020B0604020202020204" charset="0"/>
              </a:rPr>
              <a:t>Singly Linked List</a:t>
            </a: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3E093-9BDA-D2DD-6B38-E994745FD0BA}"/>
              </a:ext>
            </a:extLst>
          </p:cNvPr>
          <p:cNvSpPr txBox="1"/>
          <p:nvPr/>
        </p:nvSpPr>
        <p:spPr>
          <a:xfrm>
            <a:off x="801775" y="1865495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Why SLL: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DC6D9F9-7A9A-F8FA-58AA-8E771C94573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725" y="2093051"/>
            <a:ext cx="593463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Logs are only appended, not edited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SLL is fast and memory-efficient for growing messages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Linear traversal is enough to show full history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Unlimited log entries can be added during gameplay</a:t>
            </a:r>
          </a:p>
        </p:txBody>
      </p:sp>
    </p:spTree>
    <p:extLst>
      <p:ext uri="{BB962C8B-B14F-4D97-AF65-F5344CB8AC3E}">
        <p14:creationId xmlns:p14="http://schemas.microsoft.com/office/powerpoint/2010/main" val="2240084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C54DD495-E52E-B5F0-DA92-49C946920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ED775D79-2588-0C8F-1858-5429BB1002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Scanner </a:t>
            </a:r>
            <a:r>
              <a:rPr lang="en-US" dirty="0">
                <a:highlight>
                  <a:srgbClr val="008080"/>
                </a:highlight>
              </a:rPr>
              <a:t>Circular Linked List</a:t>
            </a:r>
            <a:endParaRPr sz="1800" dirty="0">
              <a:highlight>
                <a:srgbClr val="00808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EB122-8951-A33E-9767-14E9217BBA4D}"/>
              </a:ext>
            </a:extLst>
          </p:cNvPr>
          <p:cNvSpPr txBox="1"/>
          <p:nvPr/>
        </p:nvSpPr>
        <p:spPr>
          <a:xfrm>
            <a:off x="720000" y="1127336"/>
            <a:ext cx="7770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The scanner cycles through systems one-by-one using a </a:t>
            </a:r>
            <a:r>
              <a:rPr lang="en-US" b="1" dirty="0">
                <a:solidFill>
                  <a:schemeClr val="tx1"/>
                </a:solidFill>
                <a:latin typeface="Orbitron" panose="020B0604020202020204" charset="0"/>
              </a:rPr>
              <a:t>circular linked list</a:t>
            </a: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.</a:t>
            </a:r>
            <a:br>
              <a:rPr lang="en-US" dirty="0">
                <a:solidFill>
                  <a:schemeClr val="tx1"/>
                </a:solidFill>
                <a:latin typeface="Orbitron" panose="020B0604020202020204" charset="0"/>
              </a:rPr>
            </a:b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Once it reaches the last system, it automatically loops back.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0548A2-B9AB-1C42-636C-819773934B87}"/>
              </a:ext>
            </a:extLst>
          </p:cNvPr>
          <p:cNvSpPr txBox="1"/>
          <p:nvPr/>
        </p:nvSpPr>
        <p:spPr>
          <a:xfrm>
            <a:off x="801775" y="1865495"/>
            <a:ext cx="1944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Why Circular List: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8CE4DA3D-BC3B-8C22-FEE2-7DA671611EA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725" y="2093051"/>
            <a:ext cx="430438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Scanner never stops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Natural rotation of nodes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No need for special “reset to start” logic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Easy to jump to next system anytime</a:t>
            </a:r>
          </a:p>
        </p:txBody>
      </p:sp>
    </p:spTree>
    <p:extLst>
      <p:ext uri="{BB962C8B-B14F-4D97-AF65-F5344CB8AC3E}">
        <p14:creationId xmlns:p14="http://schemas.microsoft.com/office/powerpoint/2010/main" val="1885462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B8EED957-2103-2483-E2AD-307E54077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082DDECD-CF8B-CAEC-B05E-BB079EBB2C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Graph </a:t>
            </a:r>
            <a:r>
              <a:rPr lang="en-US" dirty="0">
                <a:highlight>
                  <a:srgbClr val="008080"/>
                </a:highlight>
              </a:rPr>
              <a:t>Adjacency Matrix</a:t>
            </a:r>
            <a:endParaRPr sz="1800" dirty="0">
              <a:highlight>
                <a:srgbClr val="00808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A6A9E-EEB8-5F36-0447-D6965CA5A9E6}"/>
              </a:ext>
            </a:extLst>
          </p:cNvPr>
          <p:cNvSpPr txBox="1"/>
          <p:nvPr/>
        </p:nvSpPr>
        <p:spPr>
          <a:xfrm>
            <a:off x="1267874" y="1066222"/>
            <a:ext cx="7156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The network connections between systems are represented using an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Orbitron" panose="020B0604020202020204" charset="0"/>
              </a:rPr>
              <a:t>Adjacency Matrix</a:t>
            </a: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21CAC-4F39-CE5C-2004-B75996DA9EC9}"/>
              </a:ext>
            </a:extLst>
          </p:cNvPr>
          <p:cNvSpPr txBox="1"/>
          <p:nvPr/>
        </p:nvSpPr>
        <p:spPr>
          <a:xfrm>
            <a:off x="801775" y="1865495"/>
            <a:ext cx="1345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Why Matrix: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2630DBD-7EB0-82CB-7A28-54C75DAE28E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2018907"/>
            <a:ext cx="5469767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Simple and predictable layout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Perfect for small networks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Easy to add/remove connections with O(1) updates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Very convenient to print for presentation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Integrates directly with BFS</a:t>
            </a:r>
          </a:p>
        </p:txBody>
      </p:sp>
    </p:spTree>
    <p:extLst>
      <p:ext uri="{BB962C8B-B14F-4D97-AF65-F5344CB8AC3E}">
        <p14:creationId xmlns:p14="http://schemas.microsoft.com/office/powerpoint/2010/main" val="573535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4FFC0D71-0289-CCA9-2E6D-77D771758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01F22510-F104-2F5A-23D2-217CBED24E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BFS for Path Finding &amp; Infection</a:t>
            </a:r>
            <a:endParaRPr sz="1800" dirty="0">
              <a:highlight>
                <a:srgbClr val="00808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EE9222-59ED-B5CD-642D-E2586713C320}"/>
              </a:ext>
            </a:extLst>
          </p:cNvPr>
          <p:cNvSpPr txBox="1"/>
          <p:nvPr/>
        </p:nvSpPr>
        <p:spPr>
          <a:xfrm>
            <a:off x="720000" y="1068065"/>
            <a:ext cx="6509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BFS (Breadth-First Search) is used twice:</a:t>
            </a:r>
          </a:p>
          <a:p>
            <a:endParaRPr lang="en-US" dirty="0">
              <a:solidFill>
                <a:schemeClr val="tx1"/>
              </a:solidFill>
              <a:latin typeface="Orbitron" panose="020B0604020202020204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Orbitron" panose="020B0604020202020204" charset="0"/>
              </a:rPr>
              <a:t>        1. Finding the shortest path</a:t>
            </a: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 between two systems</a:t>
            </a:r>
          </a:p>
          <a:p>
            <a:r>
              <a:rPr lang="en-US" b="1" dirty="0">
                <a:solidFill>
                  <a:schemeClr val="tx1"/>
                </a:solidFill>
                <a:latin typeface="Orbitron" panose="020B0604020202020204" charset="0"/>
              </a:rPr>
              <a:t>        2. Spreading malware</a:t>
            </a:r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 from one infected system to others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09C6B-D9A8-8BDF-9566-B1AB7DBE0560}"/>
              </a:ext>
            </a:extLst>
          </p:cNvPr>
          <p:cNvSpPr txBox="1"/>
          <p:nvPr/>
        </p:nvSpPr>
        <p:spPr>
          <a:xfrm>
            <a:off x="720000" y="2072512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rbitron" panose="020B0604020202020204" charset="0"/>
              </a:rPr>
              <a:t>Why BFS: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0665CBE-F111-5EA1-0E6D-2DEE0A78D8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2321109"/>
            <a:ext cx="552106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Guarantees the shortest path in unweighted graphs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Naturally works with adjacency matrix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Uses queue internally, which we already have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Easy to implement and understand</a:t>
            </a:r>
          </a:p>
        </p:txBody>
      </p:sp>
    </p:spTree>
    <p:extLst>
      <p:ext uri="{BB962C8B-B14F-4D97-AF65-F5344CB8AC3E}">
        <p14:creationId xmlns:p14="http://schemas.microsoft.com/office/powerpoint/2010/main" val="2835816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5412C8D4-9A50-E651-9B87-6064B1CA4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>
            <a:extLst>
              <a:ext uri="{FF2B5EF4-FFF2-40B4-BE49-F238E27FC236}">
                <a16:creationId xmlns:a16="http://schemas.microsoft.com/office/drawing/2014/main" id="{98AFEA25-A04E-FE6B-5AB8-077C9E8A3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Game Flow Diagram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2662C-2863-90CA-3B6F-68FACADE174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1760867"/>
            <a:ext cx="63658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Single-threaded, deterministic simulation (no randomness).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Fixed-size queue using arrays.</a:t>
            </a:r>
          </a:p>
        </p:txBody>
      </p:sp>
      <p:sp>
        <p:nvSpPr>
          <p:cNvPr id="4" name="Google Shape;283;p32">
            <a:extLst>
              <a:ext uri="{FF2B5EF4-FFF2-40B4-BE49-F238E27FC236}">
                <a16:creationId xmlns:a16="http://schemas.microsoft.com/office/drawing/2014/main" id="{56BA916F-5F82-56A3-37B7-F736E3475BF6}"/>
              </a:ext>
            </a:extLst>
          </p:cNvPr>
          <p:cNvSpPr txBox="1">
            <a:spLocks/>
          </p:cNvSpPr>
          <p:nvPr/>
        </p:nvSpPr>
        <p:spPr>
          <a:xfrm>
            <a:off x="720000" y="1303668"/>
            <a:ext cx="250270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400" dirty="0">
                <a:highlight>
                  <a:srgbClr val="008080"/>
                </a:highlight>
              </a:rPr>
              <a:t>Limitations</a:t>
            </a:r>
          </a:p>
        </p:txBody>
      </p:sp>
      <p:sp>
        <p:nvSpPr>
          <p:cNvPr id="5" name="Google Shape;283;p32">
            <a:extLst>
              <a:ext uri="{FF2B5EF4-FFF2-40B4-BE49-F238E27FC236}">
                <a16:creationId xmlns:a16="http://schemas.microsoft.com/office/drawing/2014/main" id="{0F1DA647-A86C-2287-FBDA-A32283CDF0AD}"/>
              </a:ext>
            </a:extLst>
          </p:cNvPr>
          <p:cNvSpPr txBox="1">
            <a:spLocks/>
          </p:cNvSpPr>
          <p:nvPr/>
        </p:nvSpPr>
        <p:spPr>
          <a:xfrm>
            <a:off x="719999" y="2407198"/>
            <a:ext cx="385200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400" dirty="0">
                <a:highlight>
                  <a:srgbClr val="008080"/>
                </a:highlight>
              </a:rPr>
              <a:t>Future Improvements</a:t>
            </a:r>
          </a:p>
        </p:txBody>
      </p:sp>
      <p:sp>
        <p:nvSpPr>
          <p:cNvPr id="24" name="Rectangle 19">
            <a:extLst>
              <a:ext uri="{FF2B5EF4-FFF2-40B4-BE49-F238E27FC236}">
                <a16:creationId xmlns:a16="http://schemas.microsoft.com/office/drawing/2014/main" id="{89B68D9C-6314-0BFA-C1D8-5954B7EC292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19999" y="2938028"/>
            <a:ext cx="668441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Introduce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randomized attack success probability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linked 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 for a dynamic queue.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Add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vulnerability updates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 after multiple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Include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network visualization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attack logging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4506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6E7C5-CBBD-7AA3-EF2F-5882934A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F65FA63-9209-97E0-575C-A16F1093EE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84860" y="1637617"/>
            <a:ext cx="7772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Demonstrated how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data structures (queues, structs)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 can simulate a real-world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cyberattack defense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 scenario.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anit Light" panose="020B0604020202020204" charset="-34"/>
              <a:cs typeface="Kanit Light" panose="020B060402020202020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Showcased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queue operations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decision logic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structured data handling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anit Light" panose="020B0604020202020204" charset="-34"/>
              <a:cs typeface="Kanit Light" panose="020B060402020202020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Strengthened understanding of how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patching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vulnerabilities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 affect system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anit Light" panose="020B0604020202020204" charset="-34"/>
              <a:cs typeface="Kanit Light" panose="020B0604020202020204" charset="-3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Built a foundation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advanced simulations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anit Light" panose="020B0604020202020204" charset="-34"/>
                <a:cs typeface="Kanit Light" panose="020B0604020202020204" charset="-34"/>
              </a:rPr>
              <a:t> in future project phases.</a:t>
            </a:r>
          </a:p>
        </p:txBody>
      </p:sp>
    </p:spTree>
    <p:extLst>
      <p:ext uri="{BB962C8B-B14F-4D97-AF65-F5344CB8AC3E}">
        <p14:creationId xmlns:p14="http://schemas.microsoft.com/office/powerpoint/2010/main" val="3155455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1DD3C-39FC-0108-F732-0F85F9B9A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480" y="103140"/>
            <a:ext cx="5547360" cy="750300"/>
          </a:xfrm>
        </p:spPr>
        <p:txBody>
          <a:bodyPr/>
          <a:lstStyle/>
          <a:p>
            <a:r>
              <a:rPr lang="en-US" sz="3200" dirty="0"/>
              <a:t>SAMPLE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AA9B6D-5516-37C4-A94C-8AE157006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50" y="771034"/>
            <a:ext cx="6134099" cy="360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33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A7AF5-6E52-F7D6-80CE-CEFF5844F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088262678"/>
      </p:ext>
    </p:extLst>
  </p:cSld>
  <p:clrMapOvr>
    <a:masterClrMapping/>
  </p:clrMapOvr>
</p:sld>
</file>

<file path=ppt/theme/theme1.xml><?xml version="1.0" encoding="utf-8"?>
<a:theme xmlns:a="http://schemas.openxmlformats.org/drawingml/2006/main" name="Game Design Agency by Slidesgo">
  <a:themeElements>
    <a:clrScheme name="Simple Light">
      <a:dk1>
        <a:srgbClr val="FFFFFF"/>
      </a:dk1>
      <a:lt1>
        <a:srgbClr val="000000"/>
      </a:lt1>
      <a:dk2>
        <a:srgbClr val="DD3D6E"/>
      </a:dk2>
      <a:lt2>
        <a:srgbClr val="6ABFD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</TotalTime>
  <Words>754</Words>
  <Application>Microsoft Office PowerPoint</Application>
  <PresentationFormat>On-screen Show (16:9)</PresentationFormat>
  <Paragraphs>123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Kanit</vt:lpstr>
      <vt:lpstr>Kanit Light</vt:lpstr>
      <vt:lpstr>Raleway</vt:lpstr>
      <vt:lpstr>Orbitron</vt:lpstr>
      <vt:lpstr>Arial</vt:lpstr>
      <vt:lpstr>Open Sans Light</vt:lpstr>
      <vt:lpstr>Game Design Agency by Slidesgo</vt:lpstr>
      <vt:lpstr>HACK TRIX</vt:lpstr>
      <vt:lpstr>DATA STRUCTURES AND ALGORITHMS</vt:lpstr>
      <vt:lpstr>INTRODUCTION</vt:lpstr>
      <vt:lpstr>INTRODUCTION</vt:lpstr>
      <vt:lpstr>Problem Statement</vt:lpstr>
      <vt:lpstr>Project Overview</vt:lpstr>
      <vt:lpstr>Project Overview</vt:lpstr>
      <vt:lpstr>DATA STRUCTURES USED</vt:lpstr>
      <vt:lpstr>System Storage: Doubly Linked List</vt:lpstr>
      <vt:lpstr>Attack Queue: Circular Array</vt:lpstr>
      <vt:lpstr>Logs Singly Linked List</vt:lpstr>
      <vt:lpstr>Scanner Circular Linked List</vt:lpstr>
      <vt:lpstr>Graph Adjacency Matrix</vt:lpstr>
      <vt:lpstr>BFS for Path Finding &amp; Infection</vt:lpstr>
      <vt:lpstr>Game Flow Diagram</vt:lpstr>
      <vt:lpstr>CONCLUSION</vt:lpstr>
      <vt:lpstr>SAMPLE OUTPUT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Asjid</dc:creator>
  <cp:lastModifiedBy>u2024119</cp:lastModifiedBy>
  <cp:revision>10</cp:revision>
  <dcterms:modified xsi:type="dcterms:W3CDTF">2025-12-07T17:31:00Z</dcterms:modified>
</cp:coreProperties>
</file>